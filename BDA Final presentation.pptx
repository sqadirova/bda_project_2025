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Rubik"/>
      <p:regular r:id="rId23"/>
      <p:bold r:id="rId24"/>
      <p:italic r:id="rId25"/>
      <p:boldItalic r:id="rId26"/>
    </p:embeddedFont>
    <p:embeddedFont>
      <p:font typeface="Arial Black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iUjyU8ql5INkGMoXdn61sngNS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877E0B-4A01-449E-953E-F847F8BACF13}">
  <a:tblStyle styleId="{60877E0B-4A01-449E-953E-F847F8BACF1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ubik-bold.fntdata"/><Relationship Id="rId23" Type="http://schemas.openxmlformats.org/officeDocument/2006/relationships/font" Target="fonts/Rubi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ubik-boldItalic.fntdata"/><Relationship Id="rId25" Type="http://schemas.openxmlformats.org/officeDocument/2006/relationships/font" Target="fonts/Rubik-italic.fntdata"/><Relationship Id="rId28" Type="http://customschemas.google.com/relationships/presentationmetadata" Target="metadata"/><Relationship Id="rId27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f5a30f875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5f5a30f875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f585c893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5f585c893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f5a30f875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5f5a30f875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f585c8933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5f585c8933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f5a30f875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5f5a30f875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585c8933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5f585c8933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f5a30f875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5f5a30f875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f585c893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5f585c8933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f5a30f875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5f5a30f875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hyperlink" Target="http://images/ut_logo.svg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hyperlink" Target="http://images/ut_logo.svg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images/ut_logo.svg" TargetMode="External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images/ut_logo.svg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://images/ut_logo.svg" TargetMode="External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images/ut_logo.svg" TargetMode="External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images/ut_logo.svg" TargetMode="External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images/ut_logo.svg" TargetMode="External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hyperlink" Target="http://images/ut_logo.svg" TargetMode="External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hyperlink" Target="http://images/ut_logo.svg" TargetMode="External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hyperlink" Target="http://images/ut_logo.svg" TargetMode="External"/><Relationship Id="rId4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hyperlink" Target="http://images/ut_logo.svg" TargetMode="Externa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Start_01">
  <p:cSld name="UT19_Start_0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00" y="360000"/>
            <a:ext cx="3238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6"/>
          <p:cNvSpPr txBox="1"/>
          <p:nvPr>
            <p:ph type="ctrTitle"/>
          </p:nvPr>
        </p:nvSpPr>
        <p:spPr>
          <a:xfrm>
            <a:off x="6096000" y="763200"/>
            <a:ext cx="5486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" type="subTitle"/>
          </p:nvPr>
        </p:nvSpPr>
        <p:spPr>
          <a:xfrm>
            <a:off x="6095999" y="3243600"/>
            <a:ext cx="54864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6108914" y="62794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2" type="body"/>
          </p:nvPr>
        </p:nvSpPr>
        <p:spPr>
          <a:xfrm>
            <a:off x="7727950" y="5029199"/>
            <a:ext cx="3854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b="0" sz="2400"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3" type="body"/>
          </p:nvPr>
        </p:nvSpPr>
        <p:spPr>
          <a:xfrm>
            <a:off x="7727950" y="5507669"/>
            <a:ext cx="3854449" cy="664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1B3B3"/>
              </a:buClr>
              <a:buSzPts val="1800"/>
              <a:buFont typeface="Arial"/>
              <a:buNone/>
              <a:defRPr b="0" sz="1800" cap="non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6"/>
          <p:cNvSpPr/>
          <p:nvPr>
            <p:ph idx="4" type="pic"/>
          </p:nvPr>
        </p:nvSpPr>
        <p:spPr>
          <a:xfrm>
            <a:off x="6096000" y="4806225"/>
            <a:ext cx="1371600" cy="1365975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16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Start04">
  <p:cSld name="UT19_Start0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00" y="360000"/>
            <a:ext cx="3238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7"/>
          <p:cNvSpPr txBox="1"/>
          <p:nvPr>
            <p:ph type="ctrTitle"/>
          </p:nvPr>
        </p:nvSpPr>
        <p:spPr>
          <a:xfrm>
            <a:off x="4038600" y="1338130"/>
            <a:ext cx="7543799" cy="1812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subTitle"/>
          </p:nvPr>
        </p:nvSpPr>
        <p:spPr>
          <a:xfrm>
            <a:off x="4038600" y="3243600"/>
            <a:ext cx="75438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4038597" y="6279425"/>
            <a:ext cx="2070318" cy="349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2" type="body"/>
          </p:nvPr>
        </p:nvSpPr>
        <p:spPr>
          <a:xfrm>
            <a:off x="4038598" y="5029199"/>
            <a:ext cx="7543800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b="0" sz="2400"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3" type="body"/>
          </p:nvPr>
        </p:nvSpPr>
        <p:spPr>
          <a:xfrm>
            <a:off x="4038597" y="5507669"/>
            <a:ext cx="7543801" cy="664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1B3B3"/>
              </a:buClr>
              <a:buSzPts val="1800"/>
              <a:buFont typeface="Arial"/>
              <a:buNone/>
              <a:defRPr b="0" sz="1800" cap="non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7"/>
          <p:cNvSpPr/>
          <p:nvPr>
            <p:ph idx="4" type="pic"/>
          </p:nvPr>
        </p:nvSpPr>
        <p:spPr>
          <a:xfrm>
            <a:off x="2438400" y="4806225"/>
            <a:ext cx="1371600" cy="1365975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Sectionhead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ctrTitle"/>
          </p:nvPr>
        </p:nvSpPr>
        <p:spPr>
          <a:xfrm>
            <a:off x="4038599" y="847725"/>
            <a:ext cx="7543801" cy="2870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subTitle"/>
          </p:nvPr>
        </p:nvSpPr>
        <p:spPr>
          <a:xfrm>
            <a:off x="4038599" y="3810000"/>
            <a:ext cx="7543802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6" name="Google Shape;36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000" y="360000"/>
            <a:ext cx="3238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8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Sectionhead Blue">
  <p:cSld name="UT19_Sectionhead Blue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/>
          <p:nvPr>
            <p:ph type="ctrTitle"/>
          </p:nvPr>
        </p:nvSpPr>
        <p:spPr>
          <a:xfrm>
            <a:off x="4039200" y="847725"/>
            <a:ext cx="7479901" cy="2870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" type="subTitle"/>
          </p:nvPr>
        </p:nvSpPr>
        <p:spPr>
          <a:xfrm>
            <a:off x="4039200" y="3810000"/>
            <a:ext cx="7479902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41" name="Google Shape;4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000" y="360000"/>
            <a:ext cx="3238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9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46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Image, Title and Content">
  <p:cSld name="UT19_Image, Title and Conte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4038600" y="365125"/>
            <a:ext cx="7543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4038600" y="1828800"/>
            <a:ext cx="75438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/>
          <p:nvPr>
            <p:ph idx="2" type="pic"/>
          </p:nvPr>
        </p:nvSpPr>
        <p:spPr>
          <a:xfrm>
            <a:off x="0" y="0"/>
            <a:ext cx="3810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List and Image">
  <p:cSld name="UT19_List and Imag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/>
          <p:nvPr>
            <p:ph idx="2" type="pic"/>
          </p:nvPr>
        </p:nvSpPr>
        <p:spPr>
          <a:xfrm>
            <a:off x="4038600" y="0"/>
            <a:ext cx="8153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21"/>
          <p:cNvSpPr txBox="1"/>
          <p:nvPr>
            <p:ph idx="1" type="body"/>
          </p:nvPr>
        </p:nvSpPr>
        <p:spPr>
          <a:xfrm>
            <a:off x="304154" y="685800"/>
            <a:ext cx="327724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Title and Content">
  <p:cSld name="UT19_Title and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609600" y="3810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" type="body"/>
          </p:nvPr>
        </p:nvSpPr>
        <p:spPr>
          <a:xfrm>
            <a:off x="609600" y="121920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Logo, Title and Content">
  <p:cSld name="UT19_Logo, Title and Content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3"/>
          <p:cNvSpPr txBox="1"/>
          <p:nvPr>
            <p:ph type="title"/>
          </p:nvPr>
        </p:nvSpPr>
        <p:spPr>
          <a:xfrm>
            <a:off x="4038600" y="365125"/>
            <a:ext cx="7543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4038600" y="1828800"/>
            <a:ext cx="75438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1" name="Google Shape;61;p2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00" y="360000"/>
            <a:ext cx="3238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3"/>
          <p:cNvSpPr/>
          <p:nvPr>
            <p:ph idx="2" type="pic"/>
          </p:nvPr>
        </p:nvSpPr>
        <p:spPr>
          <a:xfrm>
            <a:off x="-3111" y="2169735"/>
            <a:ext cx="3203511" cy="4687597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23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Text on Image">
  <p:cSld name="UT19_Text on Image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/>
          <p:nvPr>
            <p:ph idx="1" type="body"/>
          </p:nvPr>
        </p:nvSpPr>
        <p:spPr>
          <a:xfrm>
            <a:off x="609600" y="4800600"/>
            <a:ext cx="6858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C98B7"/>
              </a:buClr>
              <a:buSzPts val="2000"/>
              <a:buNone/>
              <a:defRPr sz="2000">
                <a:solidFill>
                  <a:srgbClr val="8C98B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C98B7"/>
              </a:buClr>
              <a:buSzPts val="1800"/>
              <a:buNone/>
              <a:defRPr sz="1800">
                <a:solidFill>
                  <a:srgbClr val="8C98B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C98B7"/>
              </a:buClr>
              <a:buSzPts val="1600"/>
              <a:buNone/>
              <a:defRPr sz="1600">
                <a:solidFill>
                  <a:srgbClr val="8C98B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C98B7"/>
              </a:buClr>
              <a:buSzPts val="1600"/>
              <a:buNone/>
              <a:defRPr sz="1600">
                <a:solidFill>
                  <a:srgbClr val="8C98B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C98B7"/>
              </a:buClr>
              <a:buSzPts val="1600"/>
              <a:buNone/>
              <a:defRPr sz="1600">
                <a:solidFill>
                  <a:srgbClr val="8C98B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C98B7"/>
              </a:buClr>
              <a:buSzPts val="1600"/>
              <a:buNone/>
              <a:defRPr sz="1600">
                <a:solidFill>
                  <a:srgbClr val="8C98B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C98B7"/>
              </a:buClr>
              <a:buSzPts val="1600"/>
              <a:buNone/>
              <a:defRPr sz="1600">
                <a:solidFill>
                  <a:srgbClr val="8C98B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C98B7"/>
              </a:buClr>
              <a:buSzPts val="1600"/>
              <a:buNone/>
              <a:defRPr sz="1600">
                <a:solidFill>
                  <a:srgbClr val="8C98B7"/>
                </a:solidFill>
              </a:defRPr>
            </a:lvl9pPr>
          </a:lstStyle>
          <a:p/>
        </p:txBody>
      </p:sp>
      <p:sp>
        <p:nvSpPr>
          <p:cNvPr id="66" name="Google Shape;66;p24"/>
          <p:cNvSpPr/>
          <p:nvPr>
            <p:ph idx="2" type="pic"/>
          </p:nvPr>
        </p:nvSpPr>
        <p:spPr>
          <a:xfrm>
            <a:off x="0" y="-6116"/>
            <a:ext cx="12204467" cy="6868301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609600" y="2103437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2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000" y="360000"/>
            <a:ext cx="3238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Estonia">
  <p:cSld name="UT19_Estoni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idx="1" type="body"/>
          </p:nvPr>
        </p:nvSpPr>
        <p:spPr>
          <a:xfrm>
            <a:off x="304154" y="685800"/>
            <a:ext cx="3276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White_Logo on Image">
  <p:cSld name="UT19_White_Logo on Imag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77" name="Google Shape;77;p2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000" y="360000"/>
            <a:ext cx="3238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7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UT19_White_Logo on Media">
  <p:cSld name="1_UT19_White_Logo on Media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/>
          <p:nvPr>
            <p:ph idx="2" type="media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1" name="Google Shape;81;p2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000" y="360000"/>
            <a:ext cx="3238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8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Thanks">
  <p:cSld name="UT19_Thank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9"/>
          <p:cNvSpPr txBox="1"/>
          <p:nvPr>
            <p:ph idx="1" type="body"/>
          </p:nvPr>
        </p:nvSpPr>
        <p:spPr>
          <a:xfrm>
            <a:off x="304154" y="1371600"/>
            <a:ext cx="3276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5" name="Google Shape;85;p2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00" y="360000"/>
            <a:ext cx="3238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9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Start_02">
  <p:cSld name="UT19_Start_0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3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00" y="360000"/>
            <a:ext cx="3238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0"/>
          <p:cNvSpPr txBox="1"/>
          <p:nvPr>
            <p:ph type="ctrTitle"/>
          </p:nvPr>
        </p:nvSpPr>
        <p:spPr>
          <a:xfrm>
            <a:off x="6096000" y="763200"/>
            <a:ext cx="5486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1" type="subTitle"/>
          </p:nvPr>
        </p:nvSpPr>
        <p:spPr>
          <a:xfrm>
            <a:off x="6095999" y="3243600"/>
            <a:ext cx="54864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1" name="Google Shape;91;p30"/>
          <p:cNvSpPr txBox="1"/>
          <p:nvPr>
            <p:ph idx="10" type="dt"/>
          </p:nvPr>
        </p:nvSpPr>
        <p:spPr>
          <a:xfrm>
            <a:off x="6108914" y="62794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0"/>
          <p:cNvSpPr txBox="1"/>
          <p:nvPr>
            <p:ph idx="2" type="body"/>
          </p:nvPr>
        </p:nvSpPr>
        <p:spPr>
          <a:xfrm>
            <a:off x="7727950" y="5029199"/>
            <a:ext cx="3854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b="0" sz="2400"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30"/>
          <p:cNvSpPr txBox="1"/>
          <p:nvPr>
            <p:ph idx="3" type="body"/>
          </p:nvPr>
        </p:nvSpPr>
        <p:spPr>
          <a:xfrm>
            <a:off x="7727950" y="5507669"/>
            <a:ext cx="3854449" cy="664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1B3B3"/>
              </a:buClr>
              <a:buSzPts val="1800"/>
              <a:buFont typeface="Arial"/>
              <a:buNone/>
              <a:defRPr b="0" sz="1800" cap="non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0"/>
          <p:cNvSpPr/>
          <p:nvPr>
            <p:ph idx="4" type="pic"/>
          </p:nvPr>
        </p:nvSpPr>
        <p:spPr>
          <a:xfrm>
            <a:off x="6096000" y="4806225"/>
            <a:ext cx="1371600" cy="1365975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30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Start_03">
  <p:cSld name="UT19_Start_0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00" y="360000"/>
            <a:ext cx="3238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1"/>
          <p:cNvSpPr txBox="1"/>
          <p:nvPr>
            <p:ph type="ctrTitle"/>
          </p:nvPr>
        </p:nvSpPr>
        <p:spPr>
          <a:xfrm>
            <a:off x="4724400" y="457200"/>
            <a:ext cx="6858000" cy="26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1"/>
          <p:cNvSpPr txBox="1"/>
          <p:nvPr>
            <p:ph idx="1" type="subTitle"/>
          </p:nvPr>
        </p:nvSpPr>
        <p:spPr>
          <a:xfrm>
            <a:off x="4724399" y="3243600"/>
            <a:ext cx="68580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0" name="Google Shape;100;p31"/>
          <p:cNvSpPr txBox="1"/>
          <p:nvPr>
            <p:ph idx="10" type="dt"/>
          </p:nvPr>
        </p:nvSpPr>
        <p:spPr>
          <a:xfrm>
            <a:off x="4724399" y="6279424"/>
            <a:ext cx="41277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1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Title and Content_Dark">
  <p:cSld name="UT19_Title and Content_Dark"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2"/>
          <p:cNvSpPr txBox="1"/>
          <p:nvPr>
            <p:ph type="title"/>
          </p:nvPr>
        </p:nvSpPr>
        <p:spPr>
          <a:xfrm>
            <a:off x="609600" y="3810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2"/>
          <p:cNvSpPr txBox="1"/>
          <p:nvPr>
            <p:ph idx="1" type="body"/>
          </p:nvPr>
        </p:nvSpPr>
        <p:spPr>
          <a:xfrm>
            <a:off x="609600" y="121920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32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Two Content" type="twoObj">
  <p:cSld name="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3"/>
          <p:cNvSpPr txBox="1"/>
          <p:nvPr>
            <p:ph type="title"/>
          </p:nvPr>
        </p:nvSpPr>
        <p:spPr>
          <a:xfrm>
            <a:off x="609600" y="365125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3"/>
          <p:cNvSpPr txBox="1"/>
          <p:nvPr>
            <p:ph idx="1" type="body"/>
          </p:nvPr>
        </p:nvSpPr>
        <p:spPr>
          <a:xfrm>
            <a:off x="609600" y="1825625"/>
            <a:ext cx="5410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3"/>
          <p:cNvSpPr txBox="1"/>
          <p:nvPr>
            <p:ph idx="2" type="body"/>
          </p:nvPr>
        </p:nvSpPr>
        <p:spPr>
          <a:xfrm>
            <a:off x="6172200" y="1825625"/>
            <a:ext cx="5410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33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Cooperation">
  <p:cSld name="UT19_Coopera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4"/>
          <p:cNvSpPr txBox="1"/>
          <p:nvPr>
            <p:ph idx="1" type="body"/>
          </p:nvPr>
        </p:nvSpPr>
        <p:spPr>
          <a:xfrm>
            <a:off x="304154" y="685800"/>
            <a:ext cx="373444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T19_Thanks_empty">
  <p:cSld name="UT19_Thanks_empt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3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00" y="360000"/>
            <a:ext cx="3238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5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B1B3B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35"/>
          <p:cNvSpPr txBox="1"/>
          <p:nvPr>
            <p:ph idx="1" type="body"/>
          </p:nvPr>
        </p:nvSpPr>
        <p:spPr>
          <a:xfrm>
            <a:off x="3352800" y="27432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Black"/>
              <a:buNone/>
              <a:defRPr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Black"/>
              <a:buNone/>
              <a:defRPr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  <a:defRPr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Black"/>
              <a:buNone/>
              <a:defRPr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Black"/>
              <a:buNone/>
              <a:defRPr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C98B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C98B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C98B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C98B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C98B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C98B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C98B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C98B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C98B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C98B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C98B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 txBox="1"/>
          <p:nvPr>
            <p:ph type="ctrTitle"/>
          </p:nvPr>
        </p:nvSpPr>
        <p:spPr>
          <a:xfrm>
            <a:off x="6096000" y="763200"/>
            <a:ext cx="5486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HAPPINESS SCORES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PREDICTION</a:t>
            </a:r>
            <a:endParaRPr sz="4000"/>
          </a:p>
        </p:txBody>
      </p:sp>
      <p:sp>
        <p:nvSpPr>
          <p:cNvPr id="122" name="Google Shape;122;p1"/>
          <p:cNvSpPr txBox="1"/>
          <p:nvPr>
            <p:ph idx="1" type="subTitle"/>
          </p:nvPr>
        </p:nvSpPr>
        <p:spPr>
          <a:xfrm>
            <a:off x="6108924" y="3693875"/>
            <a:ext cx="54864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Siddiga Gadirova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Narmin Babayeva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Dilbar Huseynzade</a:t>
            </a:r>
            <a:endParaRPr/>
          </a:p>
        </p:txBody>
      </p:sp>
      <p:sp>
        <p:nvSpPr>
          <p:cNvPr id="123" name="Google Shape;123;p1"/>
          <p:cNvSpPr txBox="1"/>
          <p:nvPr>
            <p:ph idx="10" type="dt"/>
          </p:nvPr>
        </p:nvSpPr>
        <p:spPr>
          <a:xfrm>
            <a:off x="6108914" y="62794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02.06.2025</a:t>
            </a:r>
            <a:endParaRPr/>
          </a:p>
        </p:txBody>
      </p:sp>
      <p:sp>
        <p:nvSpPr>
          <p:cNvPr id="124" name="Google Shape;124;p1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/>
          <p:nvPr>
            <p:ph type="ctrTitle"/>
          </p:nvPr>
        </p:nvSpPr>
        <p:spPr>
          <a:xfrm>
            <a:off x="5943625" y="1741700"/>
            <a:ext cx="46656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Table of content</a:t>
            </a:r>
            <a:endParaRPr sz="3600"/>
          </a:p>
        </p:txBody>
      </p:sp>
      <p:sp>
        <p:nvSpPr>
          <p:cNvPr id="130" name="Google Shape;130;p2"/>
          <p:cNvSpPr txBox="1"/>
          <p:nvPr>
            <p:ph idx="1" type="subTitle"/>
          </p:nvPr>
        </p:nvSpPr>
        <p:spPr>
          <a:xfrm>
            <a:off x="4389525" y="2642025"/>
            <a:ext cx="7543800" cy="3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About project</a:t>
            </a:r>
            <a:endParaRPr b="1"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Linear Regression Heatmap</a:t>
            </a:r>
            <a:endParaRPr b="1"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Random Forest Heatmap</a:t>
            </a:r>
            <a:endParaRPr b="1"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XGBoost Heatmap</a:t>
            </a:r>
            <a:endParaRPr b="1"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Metrics Comparison Heatmap</a:t>
            </a:r>
            <a:endParaRPr b="1"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Summary per country</a:t>
            </a:r>
            <a:endParaRPr b="1"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Final takeaways</a:t>
            </a:r>
            <a:endParaRPr b="1"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Lessons learned</a:t>
            </a:r>
            <a:endParaRPr b="1" sz="2800"/>
          </a:p>
        </p:txBody>
      </p:sp>
      <p:sp>
        <p:nvSpPr>
          <p:cNvPr id="131" name="Google Shape;131;p2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611500" y="1352325"/>
            <a:ext cx="8538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3700"/>
              </a:spcBef>
              <a:spcAft>
                <a:spcPts val="3700"/>
              </a:spcAft>
              <a:buNone/>
            </a:pPr>
            <a:r>
              <a:rPr b="1" lang="en-US" sz="2500">
                <a:solidFill>
                  <a:schemeClr val="dk2"/>
                </a:solidFill>
              </a:rPr>
              <a:t>Project type:</a:t>
            </a:r>
            <a:r>
              <a:rPr lang="en-US" sz="2500">
                <a:solidFill>
                  <a:schemeClr val="dk2"/>
                </a:solidFill>
              </a:rPr>
              <a:t> Regression-based analysis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611500" y="2210725"/>
            <a:ext cx="1084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3700"/>
              </a:spcBef>
              <a:spcAft>
                <a:spcPts val="3700"/>
              </a:spcAft>
              <a:buNone/>
            </a:pPr>
            <a:r>
              <a:rPr b="1" lang="en-US" sz="2000">
                <a:solidFill>
                  <a:schemeClr val="dk2"/>
                </a:solidFill>
              </a:rPr>
              <a:t>Problem:</a:t>
            </a:r>
            <a:r>
              <a:rPr lang="en-US" sz="2000">
                <a:solidFill>
                  <a:schemeClr val="dk2"/>
                </a:solidFill>
              </a:rPr>
              <a:t> Predict country's happiness score based on economic and social indicators like GDP, inflation levels, corruption, freedom</a:t>
            </a:r>
            <a:r>
              <a:rPr lang="en-US" sz="2000">
                <a:solidFill>
                  <a:schemeClr val="dk2"/>
                </a:solidFill>
              </a:rPr>
              <a:t>. </a:t>
            </a:r>
            <a:r>
              <a:rPr lang="en-US" sz="2000">
                <a:solidFill>
                  <a:schemeClr val="dk2"/>
                </a:solidFill>
              </a:rPr>
              <a:t>What makes people happier?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11500" y="3361275"/>
            <a:ext cx="10269900" cy="2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37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</a:rPr>
              <a:t>Why it matters:</a:t>
            </a:r>
            <a:endParaRPr b="1" sz="2000">
              <a:solidFill>
                <a:schemeClr val="dk2"/>
              </a:solidFill>
            </a:endParaRPr>
          </a:p>
          <a:p>
            <a:pPr indent="-355600" lvl="0" marL="457200" rtl="0" algn="l">
              <a:lnSpc>
                <a:spcPct val="140000"/>
              </a:lnSpc>
              <a:spcBef>
                <a:spcPts val="370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-US" sz="2000">
                <a:solidFill>
                  <a:schemeClr val="dk2"/>
                </a:solidFill>
              </a:rPr>
              <a:t>Happiness is a growing global metric for development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-US" sz="2000">
                <a:solidFill>
                  <a:schemeClr val="dk2"/>
                </a:solidFill>
              </a:rPr>
              <a:t>Governments and organizations want to know what really makes people happy, not just how rich a country is.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-US" sz="2000">
                <a:solidFill>
                  <a:schemeClr val="dk2"/>
                </a:solidFill>
              </a:rPr>
              <a:t>This is a real-world problem with social impact.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>
            <p:ph type="title"/>
          </p:nvPr>
        </p:nvSpPr>
        <p:spPr>
          <a:xfrm>
            <a:off x="5365975" y="593725"/>
            <a:ext cx="7543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Top 10 happiest </a:t>
            </a: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r>
              <a:rPr b="1" lang="en-US">
                <a:latin typeface="Arial"/>
                <a:ea typeface="Arial"/>
                <a:cs typeface="Arial"/>
                <a:sym typeface="Arial"/>
              </a:rPr>
              <a:t>countries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>
            <p:ph idx="1" type="body"/>
          </p:nvPr>
        </p:nvSpPr>
        <p:spPr>
          <a:xfrm>
            <a:off x="5593225" y="2125500"/>
            <a:ext cx="32697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7825" lvl="0" marL="457200" rtl="0" algn="l">
              <a:spcBef>
                <a:spcPts val="0"/>
              </a:spcBef>
              <a:spcAft>
                <a:spcPts val="0"/>
              </a:spcAft>
              <a:buSzPts val="2350"/>
              <a:buAutoNum type="arabicPeriod"/>
            </a:pPr>
            <a:r>
              <a:rPr lang="en-US" sz="2350"/>
              <a:t>Finland</a:t>
            </a:r>
            <a:endParaRPr sz="2350"/>
          </a:p>
          <a:p>
            <a:pPr indent="-377825" lvl="0" marL="457200" rtl="0" algn="l">
              <a:spcBef>
                <a:spcPts val="0"/>
              </a:spcBef>
              <a:spcAft>
                <a:spcPts val="0"/>
              </a:spcAft>
              <a:buSzPts val="2350"/>
              <a:buAutoNum type="arabicPeriod"/>
            </a:pPr>
            <a:r>
              <a:rPr lang="en-US" sz="2350"/>
              <a:t>Denmark</a:t>
            </a:r>
            <a:endParaRPr sz="2350"/>
          </a:p>
          <a:p>
            <a:pPr indent="-377825" lvl="0" marL="457200" rtl="0" algn="l">
              <a:spcBef>
                <a:spcPts val="0"/>
              </a:spcBef>
              <a:spcAft>
                <a:spcPts val="0"/>
              </a:spcAft>
              <a:buSzPts val="2350"/>
              <a:buAutoNum type="arabicPeriod"/>
            </a:pPr>
            <a:r>
              <a:rPr lang="en-US" sz="2350"/>
              <a:t>Iceland</a:t>
            </a:r>
            <a:endParaRPr sz="2350"/>
          </a:p>
          <a:p>
            <a:pPr indent="-377825" lvl="0" marL="457200" rtl="0" algn="l">
              <a:spcBef>
                <a:spcPts val="0"/>
              </a:spcBef>
              <a:spcAft>
                <a:spcPts val="0"/>
              </a:spcAft>
              <a:buSzPts val="2350"/>
              <a:buAutoNum type="arabicPeriod"/>
            </a:pPr>
            <a:r>
              <a:rPr lang="en-US" sz="2350"/>
              <a:t>Switzerland</a:t>
            </a:r>
            <a:endParaRPr sz="2350"/>
          </a:p>
          <a:p>
            <a:pPr indent="-377825" lvl="0" marL="457200" rtl="0" algn="l">
              <a:spcBef>
                <a:spcPts val="0"/>
              </a:spcBef>
              <a:spcAft>
                <a:spcPts val="0"/>
              </a:spcAft>
              <a:buSzPts val="2350"/>
              <a:buAutoNum type="arabicPeriod"/>
            </a:pPr>
            <a:r>
              <a:rPr lang="en-US" sz="2350"/>
              <a:t>Norway</a:t>
            </a:r>
            <a:endParaRPr sz="2350"/>
          </a:p>
          <a:p>
            <a:pPr indent="-377825" lvl="0" marL="457200" rtl="0" algn="l">
              <a:spcBef>
                <a:spcPts val="0"/>
              </a:spcBef>
              <a:spcAft>
                <a:spcPts val="0"/>
              </a:spcAft>
              <a:buSzPts val="2350"/>
              <a:buAutoNum type="arabicPeriod"/>
            </a:pPr>
            <a:r>
              <a:rPr lang="en-US" sz="2350"/>
              <a:t>Netherlands</a:t>
            </a:r>
            <a:endParaRPr sz="2350"/>
          </a:p>
          <a:p>
            <a:pPr indent="-377825" lvl="0" marL="457200" rtl="0" algn="l">
              <a:spcBef>
                <a:spcPts val="0"/>
              </a:spcBef>
              <a:spcAft>
                <a:spcPts val="0"/>
              </a:spcAft>
              <a:buSzPts val="2350"/>
              <a:buAutoNum type="arabicPeriod"/>
            </a:pPr>
            <a:r>
              <a:rPr lang="en-US" sz="2350"/>
              <a:t>Sweden</a:t>
            </a:r>
            <a:endParaRPr sz="2350"/>
          </a:p>
          <a:p>
            <a:pPr indent="-377825" lvl="0" marL="457200" rtl="0" algn="l">
              <a:spcBef>
                <a:spcPts val="0"/>
              </a:spcBef>
              <a:spcAft>
                <a:spcPts val="0"/>
              </a:spcAft>
              <a:buSzPts val="2350"/>
              <a:buAutoNum type="arabicPeriod"/>
            </a:pPr>
            <a:r>
              <a:rPr lang="en-US" sz="2350"/>
              <a:t>New Zealand</a:t>
            </a:r>
            <a:endParaRPr sz="2350"/>
          </a:p>
          <a:p>
            <a:pPr indent="-377825" lvl="0" marL="457200" rtl="0" algn="l">
              <a:spcBef>
                <a:spcPts val="0"/>
              </a:spcBef>
              <a:spcAft>
                <a:spcPts val="0"/>
              </a:spcAft>
              <a:buSzPts val="2350"/>
              <a:buAutoNum type="arabicPeriod"/>
            </a:pPr>
            <a:r>
              <a:rPr lang="en-US" sz="2350"/>
              <a:t>Canada</a:t>
            </a:r>
            <a:endParaRPr sz="2350"/>
          </a:p>
          <a:p>
            <a:pPr indent="-377825" lvl="0" marL="457200" rtl="0" algn="l">
              <a:spcBef>
                <a:spcPts val="0"/>
              </a:spcBef>
              <a:spcAft>
                <a:spcPts val="0"/>
              </a:spcAft>
              <a:buSzPts val="2350"/>
              <a:buAutoNum type="arabicPeriod"/>
            </a:pPr>
            <a:r>
              <a:rPr lang="en-US" sz="2350"/>
              <a:t>Australia</a:t>
            </a:r>
            <a:endParaRPr sz="4100"/>
          </a:p>
        </p:txBody>
      </p:sp>
      <p:pic>
        <p:nvPicPr>
          <p:cNvPr id="146" name="Google Shape;146;p5" title="Types-of-Government-Around-the-World_27c5571306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4399" r="34396" t="0"/>
          <a:stretch/>
        </p:blipFill>
        <p:spPr>
          <a:xfrm>
            <a:off x="0" y="0"/>
            <a:ext cx="4966899" cy="790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f5a30f875_0_22"/>
          <p:cNvSpPr txBox="1"/>
          <p:nvPr>
            <p:ph idx="12" type="sldNum"/>
          </p:nvPr>
        </p:nvSpPr>
        <p:spPr>
          <a:xfrm>
            <a:off x="10210800" y="6279423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3" name="Google Shape;153;g35f5a30f875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7300" y="760025"/>
            <a:ext cx="8461375" cy="603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f585c8933_0_0"/>
          <p:cNvSpPr txBox="1"/>
          <p:nvPr>
            <p:ph idx="12" type="sldNum"/>
          </p:nvPr>
        </p:nvSpPr>
        <p:spPr>
          <a:xfrm>
            <a:off x="10210800" y="6279423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g35f585c8933_0_0"/>
          <p:cNvSpPr txBox="1"/>
          <p:nvPr/>
        </p:nvSpPr>
        <p:spPr>
          <a:xfrm>
            <a:off x="704725" y="1586150"/>
            <a:ext cx="11044200" cy="45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The actual direction and strength of influence per feature, per country.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Positive values: which  feature increases happiness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Negative values: which  feature decreases happiness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</a:rPr>
              <a:t>Highlights: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-US" sz="1600">
                <a:solidFill>
                  <a:schemeClr val="dk2"/>
                </a:solidFill>
              </a:rPr>
              <a:t>Finland</a:t>
            </a:r>
            <a:r>
              <a:rPr lang="en-US" sz="1600">
                <a:solidFill>
                  <a:schemeClr val="dk2"/>
                </a:solidFill>
              </a:rPr>
              <a:t>: Generosity and GDP deflator growth rate negatively associated with happiness. Energy price inflation is the strongest positive driver.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-US" sz="1600">
                <a:solidFill>
                  <a:schemeClr val="dk2"/>
                </a:solidFill>
              </a:rPr>
              <a:t>Canada</a:t>
            </a:r>
            <a:r>
              <a:rPr lang="en-US" sz="1600">
                <a:solidFill>
                  <a:schemeClr val="dk2"/>
                </a:solidFill>
              </a:rPr>
              <a:t>: Generosity and Life Expectancy are positive. Perceptions of Corruption is strongly negative.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-US" sz="1600">
                <a:solidFill>
                  <a:schemeClr val="dk2"/>
                </a:solidFill>
              </a:rPr>
              <a:t>Switzerland</a:t>
            </a:r>
            <a:r>
              <a:rPr lang="en-US" sz="1600">
                <a:solidFill>
                  <a:schemeClr val="dk2"/>
                </a:solidFill>
              </a:rPr>
              <a:t>: Balanced but Energy CPI has a clear positive effect.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0" name="Google Shape;160;g35f585c8933_0_0"/>
          <p:cNvSpPr txBox="1"/>
          <p:nvPr/>
        </p:nvSpPr>
        <p:spPr>
          <a:xfrm>
            <a:off x="785100" y="1206500"/>
            <a:ext cx="9074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Linear Regression Heatmap (Coefficients)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f5a30f875_0_1"/>
          <p:cNvSpPr txBox="1"/>
          <p:nvPr>
            <p:ph idx="12" type="sldNum"/>
          </p:nvPr>
        </p:nvSpPr>
        <p:spPr>
          <a:xfrm>
            <a:off x="10210800" y="6279423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6" name="Google Shape;166;g35f5a30f875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275" y="823225"/>
            <a:ext cx="8083524" cy="5821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f585c8933_0_7"/>
          <p:cNvSpPr txBox="1"/>
          <p:nvPr>
            <p:ph idx="12" type="sldNum"/>
          </p:nvPr>
        </p:nvSpPr>
        <p:spPr>
          <a:xfrm>
            <a:off x="10210800" y="6279423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g35f585c8933_0_7"/>
          <p:cNvSpPr txBox="1"/>
          <p:nvPr/>
        </p:nvSpPr>
        <p:spPr>
          <a:xfrm>
            <a:off x="1114375" y="2003100"/>
            <a:ext cx="9836700" cy="3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The importance of each feature in making predictions, but not direction (only strength).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</a:rPr>
              <a:t>Highlights: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-US" sz="1600">
                <a:solidFill>
                  <a:schemeClr val="dk2"/>
                </a:solidFill>
              </a:rPr>
              <a:t>Denmark and Finland</a:t>
            </a:r>
            <a:r>
              <a:rPr lang="en-US" sz="1600">
                <a:solidFill>
                  <a:schemeClr val="dk2"/>
                </a:solidFill>
              </a:rPr>
              <a:t>: Generosity is highly important — matches global happiness index logic.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-US" sz="1600">
                <a:solidFill>
                  <a:schemeClr val="dk2"/>
                </a:solidFill>
              </a:rPr>
              <a:t>Iceland</a:t>
            </a:r>
            <a:r>
              <a:rPr lang="en-US" sz="1600">
                <a:solidFill>
                  <a:schemeClr val="dk2"/>
                </a:solidFill>
              </a:rPr>
              <a:t>: GDP deflator is strongest — inflation sensitivity.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-US" sz="1600">
                <a:solidFill>
                  <a:schemeClr val="dk2"/>
                </a:solidFill>
              </a:rPr>
              <a:t>Switzerland</a:t>
            </a:r>
            <a:r>
              <a:rPr lang="en-US" sz="1600">
                <a:solidFill>
                  <a:schemeClr val="dk2"/>
                </a:solidFill>
              </a:rPr>
              <a:t>: GDP per capita is top — suggests economic satisfaction drives happiness.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73" name="Google Shape;173;g35f585c8933_0_7"/>
          <p:cNvSpPr txBox="1"/>
          <p:nvPr/>
        </p:nvSpPr>
        <p:spPr>
          <a:xfrm>
            <a:off x="992900" y="1310400"/>
            <a:ext cx="8451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Random Forest Heatmap </a:t>
            </a:r>
            <a:r>
              <a:rPr b="1" lang="en-US" sz="2800">
                <a:solidFill>
                  <a:schemeClr val="dk1"/>
                </a:solidFill>
              </a:rPr>
              <a:t>(Feature Importances)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f5a30f875_0_8"/>
          <p:cNvSpPr txBox="1"/>
          <p:nvPr>
            <p:ph idx="12" type="sldNum"/>
          </p:nvPr>
        </p:nvSpPr>
        <p:spPr>
          <a:xfrm>
            <a:off x="10210800" y="6279423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g35f5a30f875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0699" y="900625"/>
            <a:ext cx="7910600" cy="574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f585c8933_0_14"/>
          <p:cNvSpPr txBox="1"/>
          <p:nvPr>
            <p:ph idx="12" type="sldNum"/>
          </p:nvPr>
        </p:nvSpPr>
        <p:spPr>
          <a:xfrm>
            <a:off x="10210800" y="6279423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g35f585c8933_0_14"/>
          <p:cNvSpPr txBox="1"/>
          <p:nvPr/>
        </p:nvSpPr>
        <p:spPr>
          <a:xfrm>
            <a:off x="790875" y="1610600"/>
            <a:ext cx="10512000" cy="3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More aggressive pattern: usually picks 1 dominant feature per country, discards others.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</a:rPr>
              <a:t>Highlights: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-US" sz="1600">
                <a:solidFill>
                  <a:schemeClr val="dk2"/>
                </a:solidFill>
              </a:rPr>
              <a:t>Finland</a:t>
            </a:r>
            <a:r>
              <a:rPr lang="en-US" sz="1600">
                <a:solidFill>
                  <a:schemeClr val="dk2"/>
                </a:solidFill>
              </a:rPr>
              <a:t>: Generosity (0.94!) — extreme dependence.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-US" sz="1600">
                <a:solidFill>
                  <a:schemeClr val="dk2"/>
                </a:solidFill>
              </a:rPr>
              <a:t>Iceland</a:t>
            </a:r>
            <a:r>
              <a:rPr lang="en-US" sz="1600">
                <a:solidFill>
                  <a:schemeClr val="dk2"/>
                </a:solidFill>
              </a:rPr>
              <a:t>: GDP deflator — strong and singular.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-US" sz="1600">
                <a:solidFill>
                  <a:schemeClr val="dk2"/>
                </a:solidFill>
              </a:rPr>
              <a:t>Canada</a:t>
            </a:r>
            <a:r>
              <a:rPr lang="en-US" sz="1600">
                <a:solidFill>
                  <a:schemeClr val="dk2"/>
                </a:solidFill>
              </a:rPr>
              <a:t>: Life expectancy &amp; Energy inflation — standout contributors.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-US" sz="1600">
                <a:solidFill>
                  <a:schemeClr val="dk2"/>
                </a:solidFill>
              </a:rPr>
              <a:t>Switzerland</a:t>
            </a:r>
            <a:r>
              <a:rPr lang="en-US" sz="1600">
                <a:solidFill>
                  <a:schemeClr val="dk2"/>
                </a:solidFill>
              </a:rPr>
              <a:t>: Headline CPI and Food CPI — shows overfitting risk (too sharp reliance).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86" name="Google Shape;186;g35f585c8933_0_14"/>
          <p:cNvSpPr txBox="1"/>
          <p:nvPr/>
        </p:nvSpPr>
        <p:spPr>
          <a:xfrm>
            <a:off x="987125" y="1137225"/>
            <a:ext cx="7325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XGBoost Heatmap (Feature Importances)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5a30f875_0_14"/>
          <p:cNvSpPr txBox="1"/>
          <p:nvPr>
            <p:ph idx="12" type="sldNum"/>
          </p:nvPr>
        </p:nvSpPr>
        <p:spPr>
          <a:xfrm>
            <a:off x="10210800" y="6279423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2" name="Google Shape;192;g35f5a30f875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3300"/>
            <a:ext cx="11887202" cy="5432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f585c8933_0_21"/>
          <p:cNvSpPr txBox="1"/>
          <p:nvPr>
            <p:ph idx="12" type="sldNum"/>
          </p:nvPr>
        </p:nvSpPr>
        <p:spPr>
          <a:xfrm>
            <a:off x="10210800" y="6279423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g35f585c8933_0_21"/>
          <p:cNvSpPr txBox="1"/>
          <p:nvPr/>
        </p:nvSpPr>
        <p:spPr>
          <a:xfrm>
            <a:off x="906550" y="2258950"/>
            <a:ext cx="7194600" cy="25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Model accuracy and error by country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R² closer to 1 = better, negative = worse than average</a:t>
            </a:r>
            <a:br>
              <a:rPr lang="en-US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MAE and RMSE lower = better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99" name="Google Shape;199;g35f585c8933_0_21"/>
          <p:cNvSpPr txBox="1"/>
          <p:nvPr/>
        </p:nvSpPr>
        <p:spPr>
          <a:xfrm>
            <a:off x="790875" y="1570175"/>
            <a:ext cx="83475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Metrics Comparison Heatmap (R², MAE, RMSE)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05" name="Google Shape;205;p9"/>
          <p:cNvGraphicFramePr/>
          <p:nvPr/>
        </p:nvGraphicFramePr>
        <p:xfrm>
          <a:off x="3165800" y="28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{60877E0B-4A01-449E-953E-F847F8BACF13}</a:tableStyleId>
              </a:tblPr>
              <a:tblGrid>
                <a:gridCol w="1216425"/>
                <a:gridCol w="1322225"/>
                <a:gridCol w="6082300"/>
              </a:tblGrid>
              <a:tr h="402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Country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Best Model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Why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Finland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XGBoost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R² = 0.96, very low MAE/RMSE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Denmark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Random Forest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R² = 0.73, XGB overfit a bit, Linear failed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Iceland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XGBoost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Near perfect prediction (R² = 0.97)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Switzerland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None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All models failed — XGB worst (R² = -16000+), small or unstable data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Norway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Random Forest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R² = 0.83, reliable error scores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Netherlands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Random Forest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Others failed (R² = -4.7 for Linear, -0.6 for XGB)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Sweden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Linear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R² = 0.76, best balance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New Zealand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Random Forest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R² = 0.82, low error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Canada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XGBoost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R² = 0.87, lowest MAE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Australia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Random Forest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Best generalization (XGB failed again)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" name="Google Shape;206;p9"/>
          <p:cNvSpPr txBox="1"/>
          <p:nvPr/>
        </p:nvSpPr>
        <p:spPr>
          <a:xfrm>
            <a:off x="334825" y="808175"/>
            <a:ext cx="2268600" cy="1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</a:rPr>
              <a:t>Summary</a:t>
            </a:r>
            <a:endParaRPr b="1"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</a:rPr>
              <a:t>per country</a:t>
            </a:r>
            <a:endParaRPr b="1"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/>
          <p:nvPr>
            <p:ph idx="1" type="body"/>
          </p:nvPr>
        </p:nvSpPr>
        <p:spPr>
          <a:xfrm>
            <a:off x="633200" y="1829950"/>
            <a:ext cx="11060100" cy="4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•"/>
            </a:pPr>
            <a:r>
              <a:rPr b="1" lang="en-US" sz="1700">
                <a:solidFill>
                  <a:schemeClr val="dk2"/>
                </a:solidFill>
              </a:rPr>
              <a:t>Linear Regression</a:t>
            </a:r>
            <a:r>
              <a:rPr lang="en-US" sz="1700">
                <a:solidFill>
                  <a:schemeClr val="dk2"/>
                </a:solidFill>
              </a:rPr>
              <a:t> is good for understanding </a:t>
            </a:r>
            <a:r>
              <a:rPr b="1" lang="en-US" sz="1700">
                <a:solidFill>
                  <a:schemeClr val="dk2"/>
                </a:solidFill>
              </a:rPr>
              <a:t>direction of influence</a:t>
            </a:r>
            <a:r>
              <a:rPr lang="en-US" sz="1700">
                <a:solidFill>
                  <a:schemeClr val="dk2"/>
                </a:solidFill>
              </a:rPr>
              <a:t>, but </a:t>
            </a:r>
            <a:r>
              <a:rPr b="1" lang="en-US" sz="1700">
                <a:solidFill>
                  <a:schemeClr val="dk2"/>
                </a:solidFill>
              </a:rPr>
              <a:t>underperforms in accuracy</a:t>
            </a:r>
            <a:r>
              <a:rPr lang="en-US" sz="1700">
                <a:solidFill>
                  <a:schemeClr val="dk2"/>
                </a:solidFill>
              </a:rPr>
              <a:t>.</a:t>
            </a:r>
            <a:br>
              <a:rPr lang="en-US" sz="1700">
                <a:solidFill>
                  <a:schemeClr val="dk2"/>
                </a:solidFill>
              </a:rPr>
            </a:br>
            <a:br>
              <a:rPr lang="en-US" sz="1700">
                <a:solidFill>
                  <a:schemeClr val="dk2"/>
                </a:solidFill>
              </a:rPr>
            </a:b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•"/>
            </a:pPr>
            <a:r>
              <a:rPr b="1" lang="en-US" sz="1700">
                <a:solidFill>
                  <a:schemeClr val="dk2"/>
                </a:solidFill>
              </a:rPr>
              <a:t>Random Forest</a:t>
            </a:r>
            <a:r>
              <a:rPr lang="en-US" sz="1700">
                <a:solidFill>
                  <a:schemeClr val="dk2"/>
                </a:solidFill>
              </a:rPr>
              <a:t> is the most </a:t>
            </a:r>
            <a:r>
              <a:rPr b="1" lang="en-US" sz="1700">
                <a:solidFill>
                  <a:schemeClr val="dk2"/>
                </a:solidFill>
              </a:rPr>
              <a:t>stable and reliable model overall</a:t>
            </a:r>
            <a:r>
              <a:rPr lang="en-US" sz="1700">
                <a:solidFill>
                  <a:schemeClr val="dk2"/>
                </a:solidFill>
              </a:rPr>
              <a:t>, especially in countries with moderate data sizes.</a:t>
            </a:r>
            <a:br>
              <a:rPr lang="en-US" sz="1700">
                <a:solidFill>
                  <a:schemeClr val="dk2"/>
                </a:solidFill>
              </a:rPr>
            </a:br>
            <a:br>
              <a:rPr lang="en-US" sz="1700">
                <a:solidFill>
                  <a:schemeClr val="dk2"/>
                </a:solidFill>
              </a:rPr>
            </a:b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•"/>
            </a:pPr>
            <a:r>
              <a:rPr b="1" lang="en-US" sz="1700">
                <a:solidFill>
                  <a:schemeClr val="dk2"/>
                </a:solidFill>
              </a:rPr>
              <a:t>XGBoost</a:t>
            </a:r>
            <a:r>
              <a:rPr lang="en-US" sz="1700">
                <a:solidFill>
                  <a:schemeClr val="dk2"/>
                </a:solidFill>
              </a:rPr>
              <a:t> is highly accurate in data-rich countries (Finland, Canada, Iceland), but it is </a:t>
            </a:r>
            <a:r>
              <a:rPr b="1" lang="en-US" sz="1700">
                <a:solidFill>
                  <a:schemeClr val="dk2"/>
                </a:solidFill>
              </a:rPr>
              <a:t>too aggressive</a:t>
            </a:r>
            <a:r>
              <a:rPr lang="en-US" sz="1700">
                <a:solidFill>
                  <a:schemeClr val="dk2"/>
                </a:solidFill>
              </a:rPr>
              <a:t> in low-sampl</a:t>
            </a:r>
            <a:r>
              <a:rPr lang="en-US" sz="1700">
                <a:solidFill>
                  <a:schemeClr val="dk2"/>
                </a:solidFill>
              </a:rPr>
              <a:t>e </a:t>
            </a:r>
            <a:r>
              <a:rPr lang="en-US" sz="1700">
                <a:solidFill>
                  <a:schemeClr val="dk2"/>
                </a:solidFill>
              </a:rPr>
              <a:t>cases (Switzerland).</a:t>
            </a:r>
            <a:br>
              <a:rPr lang="en-US" sz="1700">
                <a:solidFill>
                  <a:schemeClr val="dk2"/>
                </a:solidFill>
              </a:rPr>
            </a:br>
            <a:br>
              <a:rPr lang="en-US" sz="1700">
                <a:solidFill>
                  <a:schemeClr val="dk2"/>
                </a:solidFill>
              </a:rPr>
            </a:b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•"/>
            </a:pPr>
            <a:r>
              <a:rPr b="1" lang="en-US" sz="1700">
                <a:solidFill>
                  <a:schemeClr val="dk2"/>
                </a:solidFill>
              </a:rPr>
              <a:t>Generosity</a:t>
            </a:r>
            <a:r>
              <a:rPr lang="en-US" sz="1700">
                <a:solidFill>
                  <a:schemeClr val="dk2"/>
                </a:solidFill>
              </a:rPr>
              <a:t> and </a:t>
            </a:r>
            <a:r>
              <a:rPr b="1" lang="en-US" sz="1700">
                <a:solidFill>
                  <a:schemeClr val="dk2"/>
                </a:solidFill>
              </a:rPr>
              <a:t>GDP indicators</a:t>
            </a:r>
            <a:r>
              <a:rPr lang="en-US" sz="1700">
                <a:solidFill>
                  <a:schemeClr val="dk2"/>
                </a:solidFill>
              </a:rPr>
              <a:t> are the most frequent top drivers, but their effect varies by country and model.</a:t>
            </a:r>
            <a:br>
              <a:rPr lang="en-US" sz="1700">
                <a:solidFill>
                  <a:schemeClr val="dk2"/>
                </a:solidFill>
              </a:rPr>
            </a:br>
            <a:br>
              <a:rPr lang="en-US" sz="1700">
                <a:solidFill>
                  <a:schemeClr val="dk2"/>
                </a:solidFill>
              </a:rPr>
            </a:b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•"/>
            </a:pPr>
            <a:r>
              <a:rPr b="1" lang="en-US" sz="1700">
                <a:solidFill>
                  <a:schemeClr val="dk2"/>
                </a:solidFill>
              </a:rPr>
              <a:t>Switzerland</a:t>
            </a:r>
            <a:r>
              <a:rPr lang="en-US" sz="1700">
                <a:solidFill>
                  <a:schemeClr val="dk2"/>
                </a:solidFill>
              </a:rPr>
              <a:t> highlights a limitation of using powerful models on weak data — future improvements could include more time periods or additional features.</a:t>
            </a:r>
            <a:endParaRPr sz="17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212" name="Google Shape;212;p6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860125" y="860125"/>
            <a:ext cx="47973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Final Takeaways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5a30f875_0_36"/>
          <p:cNvSpPr txBox="1"/>
          <p:nvPr>
            <p:ph idx="12" type="sldNum"/>
          </p:nvPr>
        </p:nvSpPr>
        <p:spPr>
          <a:xfrm>
            <a:off x="10210800" y="6279423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g35f5a30f875_0_36"/>
          <p:cNvSpPr txBox="1"/>
          <p:nvPr/>
        </p:nvSpPr>
        <p:spPr>
          <a:xfrm>
            <a:off x="876475" y="1774620"/>
            <a:ext cx="9795300" cy="45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-US" sz="1800">
                <a:solidFill>
                  <a:schemeClr val="dk2"/>
                </a:solidFill>
              </a:rPr>
              <a:t>Data isn't perfect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US" sz="1800">
                <a:solidFill>
                  <a:schemeClr val="dk2"/>
                </a:solidFill>
              </a:rPr>
              <a:t>real datasets require cleaning, fixing missing values, and careful preprocessing.</a:t>
            </a:r>
            <a:br>
              <a:rPr lang="en-US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-US" sz="1800">
                <a:solidFill>
                  <a:schemeClr val="dk2"/>
                </a:solidFill>
              </a:rPr>
              <a:t>Model performance varies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US" sz="1800">
                <a:solidFill>
                  <a:schemeClr val="dk2"/>
                </a:solidFill>
              </a:rPr>
              <a:t>some models like XGBoost overfit small data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US" sz="1800">
                <a:solidFill>
                  <a:schemeClr val="dk2"/>
                </a:solidFill>
              </a:rPr>
              <a:t>Random Forest is more stable.</a:t>
            </a:r>
            <a:br>
              <a:rPr lang="en-US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-US" sz="1800">
                <a:solidFill>
                  <a:schemeClr val="dk2"/>
                </a:solidFill>
              </a:rPr>
              <a:t>Key drivers differ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US" sz="1800">
                <a:solidFill>
                  <a:schemeClr val="dk2"/>
                </a:solidFill>
              </a:rPr>
              <a:t>each country has different top features influencing happiness (e.g., generosity vs. inflation).</a:t>
            </a:r>
            <a:br>
              <a:rPr lang="en-US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-US" sz="1800">
                <a:solidFill>
                  <a:schemeClr val="dk2"/>
                </a:solidFill>
              </a:rPr>
              <a:t>Metrics matter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US" sz="1800">
                <a:solidFill>
                  <a:schemeClr val="dk2"/>
                </a:solidFill>
              </a:rPr>
              <a:t>comparing R², MAE, RMSE helped us choose the best model per country.</a:t>
            </a:r>
            <a:br>
              <a:rPr lang="en-US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-US" sz="1800">
                <a:solidFill>
                  <a:schemeClr val="dk2"/>
                </a:solidFill>
              </a:rPr>
              <a:t>Teamwork is essential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US" sz="1800">
                <a:solidFill>
                  <a:schemeClr val="dk2"/>
                </a:solidFill>
              </a:rPr>
              <a:t>coordinating tasks and handling unexpected issues improved our project management skills.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20" name="Google Shape;220;g35f5a30f875_0_36"/>
          <p:cNvSpPr txBox="1"/>
          <p:nvPr/>
        </p:nvSpPr>
        <p:spPr>
          <a:xfrm>
            <a:off x="770825" y="1045650"/>
            <a:ext cx="83475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What we learned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 txBox="1"/>
          <p:nvPr>
            <p:ph type="title"/>
          </p:nvPr>
        </p:nvSpPr>
        <p:spPr>
          <a:xfrm>
            <a:off x="609600" y="2103437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Link to repository: 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https://github.com/sqadirova/BDA_project_2025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"/>
          <p:cNvSpPr txBox="1"/>
          <p:nvPr>
            <p:ph type="ctrTitle"/>
          </p:nvPr>
        </p:nvSpPr>
        <p:spPr>
          <a:xfrm>
            <a:off x="4039200" y="847725"/>
            <a:ext cx="7479901" cy="2870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Any questions?</a:t>
            </a:r>
            <a:endParaRPr/>
          </a:p>
        </p:txBody>
      </p:sp>
      <p:sp>
        <p:nvSpPr>
          <p:cNvPr id="232" name="Google Shape;232;p4"/>
          <p:cNvSpPr txBox="1"/>
          <p:nvPr>
            <p:ph idx="12" type="sldNum"/>
          </p:nvPr>
        </p:nvSpPr>
        <p:spPr>
          <a:xfrm>
            <a:off x="10210800" y="6279423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T_2019 Theme">
  <a:themeElements>
    <a:clrScheme name="UT_2019">
      <a:dk1>
        <a:srgbClr val="2C5696"/>
      </a:dk1>
      <a:lt1>
        <a:srgbClr val="FFFFFF"/>
      </a:lt1>
      <a:dk2>
        <a:srgbClr val="102064"/>
      </a:dk2>
      <a:lt2>
        <a:srgbClr val="FFFFFF"/>
      </a:lt2>
      <a:accent1>
        <a:srgbClr val="00A6E9"/>
      </a:accent1>
      <a:accent2>
        <a:srgbClr val="ED7D31"/>
      </a:accent2>
      <a:accent3>
        <a:srgbClr val="E52143"/>
      </a:accent3>
      <a:accent4>
        <a:srgbClr val="AE78B1"/>
      </a:accent4>
      <a:accent5>
        <a:srgbClr val="87BC1F"/>
      </a:accent5>
      <a:accent6>
        <a:srgbClr val="FAA41A"/>
      </a:accent6>
      <a:hlink>
        <a:srgbClr val="FF6F20"/>
      </a:hlink>
      <a:folHlink>
        <a:srgbClr val="00A6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2018-12-27T16:27:33Z</dcterms:created>
  <dc:creator>Heiko Unt</dc:creator>
</cp:coreProperties>
</file>